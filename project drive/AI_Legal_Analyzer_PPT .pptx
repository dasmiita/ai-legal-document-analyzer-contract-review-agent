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4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4391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502920" cy="91440"/>
          </a:xfrm>
          <a:prstGeom prst="rect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-731520"/>
            <a:ext cx="2560320" cy="2560320"/>
          </a:xfrm>
          <a:prstGeom prst="ellipse">
            <a:avLst/>
          </a:prstGeom>
          <a:solidFill>
            <a:srgbClr val="C2D3F7">
              <a:alpha val="80000"/>
            </a:srgbClr>
          </a:solidFill>
          <a:ln w="12700">
            <a:solidFill>
              <a:srgbClr val="C2D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Legal Document Analyzer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Contract Review Agent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371600" y="2468880"/>
            <a:ext cx="6400800" cy="685800"/>
          </a:xfrm>
          <a:prstGeom prst="rect">
            <a:avLst/>
          </a:prstGeom>
          <a:solidFill>
            <a:srgbClr val="E8ECF5"/>
          </a:solidFill>
          <a:ln w="12700">
            <a:solidFill>
              <a:srgbClr val="C5CB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2468880"/>
            <a:ext cx="54864" cy="685800"/>
          </a:xfrm>
          <a:prstGeom prst="rect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2496312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founders to understand contracts in seconds, not weeks.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8229600" cy="0"/>
          </a:xfrm>
          <a:prstGeom prst="line">
            <a:avLst/>
          </a:prstGeom>
          <a:noFill/>
          <a:ln w="12700">
            <a:solidFill>
              <a:srgbClr val="D0D7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34747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4464" y="3782146"/>
            <a:ext cx="7114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Smita Das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9977" y="400050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2301020580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28864" y="379476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Sammridhi Choudhary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0670" y="400507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2301020566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03220" y="3799364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Faiz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89852" y="400507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2301020713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88607" y="379476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Majid Siddque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00033" y="400050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2301020780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39215" y="3799364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Sumaiyah Fatmee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59727" y="4011508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2301020593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78921" y="3790374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Akshit Sharma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727" y="401572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2301020891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64487" y="3781384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Shivane Bhagat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48842" y="4010746"/>
            <a:ext cx="78676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2301020903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640080"/>
            <a:ext cx="914400" cy="64008"/>
          </a:xfrm>
          <a:prstGeom prst="rect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C2D3F7"/>
          </a:solidFill>
          <a:ln w="12700">
            <a:solidFill>
              <a:srgbClr val="C2D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14400"/>
            <a:ext cx="4297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78992"/>
            <a:ext cx="502920" cy="502920"/>
          </a:xfrm>
          <a:prstGeom prst="ellipse">
            <a:avLst/>
          </a:prstGeom>
          <a:solidFill>
            <a:srgbClr val="D1F5EF"/>
          </a:solidFill>
          <a:ln w="12700">
            <a:solidFill>
              <a:srgbClr val="D1F5E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1556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8992" y="10058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78992" y="126187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counsel is expensive, typically ranging from </a:t>
            </a:r>
            <a:r>
              <a:rPr lang="en-US" sz="1100" b="1" dirty="0">
                <a:solidFill>
                  <a:srgbClr val="0D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$300–$500 per hour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making it inaccessible for early-stage founders.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" y="1965960"/>
            <a:ext cx="4297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130552"/>
            <a:ext cx="502920" cy="502920"/>
          </a:xfrm>
          <a:prstGeom prst="ellipse">
            <a:avLst/>
          </a:prstGeom>
          <a:solidFill>
            <a:srgbClr val="D1F5EF"/>
          </a:solidFill>
          <a:ln w="12700">
            <a:solidFill>
              <a:srgbClr val="D1F5EF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16712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78992" y="20574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&amp; Jargon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78992" y="231343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are dense and filled with legalese. Understanding obligations without expert help is time-consuming and difficult.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20040" y="3017520"/>
            <a:ext cx="4297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182112"/>
            <a:ext cx="502920" cy="502920"/>
          </a:xfrm>
          <a:prstGeom prst="ellipse">
            <a:avLst/>
          </a:prstGeom>
          <a:solidFill>
            <a:srgbClr val="D1F5EF"/>
          </a:solidFill>
          <a:ln w="12700">
            <a:solidFill>
              <a:srgbClr val="D1F5EF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21868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78992" y="31089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Risks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078992" y="336499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Poorly reviewed contracts can lead to IP theft, unfair liability, or financial loss. Missing a single clause can be disastrous.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120640" y="1188720"/>
            <a:ext cx="3566160" cy="256032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138160" y="822960"/>
            <a:ext cx="777240" cy="7772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3608" y="978408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120640" y="14630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7200" dirty="0"/>
          </a:p>
        </p:txBody>
      </p:sp>
      <p:sp>
        <p:nvSpPr>
          <p:cNvPr id="25" name="Text 19"/>
          <p:cNvSpPr/>
          <p:nvPr/>
        </p:nvSpPr>
        <p:spPr>
          <a:xfrm>
            <a:off x="5120640" y="25603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small businesses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legal disputes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0" y="4914900"/>
            <a:ext cx="4114800" cy="228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114800" y="4914900"/>
            <a:ext cx="5029200" cy="228600"/>
          </a:xfrm>
          <a:prstGeom prst="rect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640080"/>
            <a:ext cx="914400" cy="64008"/>
          </a:xfrm>
          <a:prstGeom prst="rect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C2D3F7"/>
          </a:solidFill>
          <a:ln w="12700">
            <a:solidFill>
              <a:srgbClr val="C2D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64008" cy="731520"/>
          </a:xfrm>
          <a:prstGeom prst="rect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05840"/>
            <a:ext cx="548640" cy="548640"/>
          </a:xfrm>
          <a:prstGeom prst="ellipse">
            <a:avLst/>
          </a:prstGeom>
          <a:solidFill>
            <a:srgbClr val="D1F5EF"/>
          </a:solidFill>
          <a:ln w="12700">
            <a:solidFill>
              <a:srgbClr val="D1F5E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069848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9692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Analysis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122529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agent that ingests and analyzes complex legal documents instantly, identifying patterns and structures.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" y="1892808"/>
            <a:ext cx="64008" cy="731520"/>
          </a:xfrm>
          <a:prstGeom prst="rect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1938528"/>
            <a:ext cx="548640" cy="548640"/>
          </a:xfrm>
          <a:prstGeom prst="ellipse">
            <a:avLst/>
          </a:prstGeom>
          <a:solidFill>
            <a:srgbClr val="D1F5EF"/>
          </a:solidFill>
          <a:ln w="12700">
            <a:solidFill>
              <a:srgbClr val="D1F5EF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002536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88720" y="19019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&amp; Efficiency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188720" y="215798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PDF and receive a comprehensive risk breakdown in </a:t>
            </a:r>
            <a:r>
              <a:rPr lang="en-US" sz="1100" b="1" dirty="0">
                <a:solidFill>
                  <a:srgbClr val="0D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2 minutes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replacing days of manual review.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20040" y="2825496"/>
            <a:ext cx="64008" cy="731520"/>
          </a:xfrm>
          <a:prstGeom prst="rect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02920" y="2871216"/>
            <a:ext cx="548640" cy="548640"/>
          </a:xfrm>
          <a:prstGeom prst="ellipse">
            <a:avLst/>
          </a:prstGeom>
          <a:solidFill>
            <a:srgbClr val="D1F5EF"/>
          </a:solidFill>
          <a:ln w="12700">
            <a:solidFill>
              <a:srgbClr val="D1F5EF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2935224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28346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 Summaries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188720" y="309067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translate convoluted legalese into clear, simple language so founders know exactly what they are signing.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20040" y="3758184"/>
            <a:ext cx="64008" cy="731520"/>
          </a:xfrm>
          <a:prstGeom prst="rect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02920" y="3803904"/>
            <a:ext cx="548640" cy="548640"/>
          </a:xfrm>
          <a:prstGeom prst="ellipse">
            <a:avLst/>
          </a:prstGeom>
          <a:solidFill>
            <a:srgbClr val="D1F5EF"/>
          </a:solidFill>
          <a:ln w="12700">
            <a:solidFill>
              <a:srgbClr val="D1F5EF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3867912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88720" y="37673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Legal Counsel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188720" y="40233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help reduce expensive lawyer billable hours by handling the initial review, not to replace legal experts.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074920" y="960120"/>
            <a:ext cx="37490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955280" y="1005840"/>
            <a:ext cx="77724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2712" y="1051560"/>
            <a:ext cx="137160" cy="1828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119872" y="103327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5212080" y="1371600"/>
            <a:ext cx="3474720" cy="658368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1808" y="1463040"/>
            <a:ext cx="320040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715000" y="143560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NDA_Contract_v2.pdf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5715000" y="166420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MB • Uploaded just now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5212080" y="2148840"/>
            <a:ext cx="1463040" cy="274320"/>
          </a:xfrm>
          <a:prstGeom prst="roundRect">
            <a:avLst>
              <a:gd name="adj" fmla="val 33333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76088" y="2194560"/>
            <a:ext cx="182880" cy="18288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5486400" y="2176272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Complete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5212080" y="25420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Detection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8229600" y="25420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5212080" y="2770632"/>
            <a:ext cx="347472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5212080" y="2770632"/>
            <a:ext cx="3474720" cy="1097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2080" y="2999232"/>
            <a:ext cx="201168" cy="20116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486400" y="299923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Extracted</a:t>
            </a:r>
            <a:endParaRPr lang="en-US" sz="1100" dirty="0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2080" y="3273552"/>
            <a:ext cx="201168" cy="201168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5486400" y="327355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Clauses Classified</a:t>
            </a:r>
            <a:endParaRPr lang="en-US" sz="1100" dirty="0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2080" y="3547872"/>
            <a:ext cx="201168" cy="201168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5486400" y="354787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Flagged</a:t>
            </a:r>
            <a:endParaRPr lang="en-US" sz="1100" dirty="0"/>
          </a:p>
        </p:txBody>
      </p:sp>
      <p:sp>
        <p:nvSpPr>
          <p:cNvPr id="47" name="Shape 35"/>
          <p:cNvSpPr/>
          <p:nvPr/>
        </p:nvSpPr>
        <p:spPr>
          <a:xfrm>
            <a:off x="5212080" y="4160520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76088" y="4206240"/>
            <a:ext cx="164592" cy="201168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5468112" y="418795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640080"/>
            <a:ext cx="914400" cy="64008"/>
          </a:xfrm>
          <a:prstGeom prst="rect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C2D3F7"/>
          </a:solidFill>
          <a:ln w="12700">
            <a:solidFill>
              <a:srgbClr val="C2D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2011680"/>
            <a:ext cx="8686800" cy="210312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5300" y="214884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7092" y="2039112"/>
            <a:ext cx="274320" cy="27432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7092" y="20391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68" y="2286000"/>
            <a:ext cx="502920" cy="5029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482852" y="2606040"/>
            <a:ext cx="396240" cy="0"/>
          </a:xfrm>
          <a:prstGeom prst="line">
            <a:avLst/>
          </a:prstGeom>
          <a:noFill/>
          <a:ln w="19050">
            <a:solidFill>
              <a:srgbClr val="C5CB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41932" y="247802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5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00990" y="3200400"/>
            <a:ext cx="13030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00990" y="3456432"/>
            <a:ext cx="13030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Initiates Request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943100" y="214884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64892" y="2039112"/>
            <a:ext cx="274320" cy="27432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64892" y="20391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4268" y="2286000"/>
            <a:ext cx="502920" cy="50292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2930652" y="2606040"/>
            <a:ext cx="396240" cy="0"/>
          </a:xfrm>
          <a:prstGeom prst="line">
            <a:avLst/>
          </a:prstGeom>
          <a:noFill/>
          <a:ln w="19050">
            <a:solidFill>
              <a:srgbClr val="C5CBD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189732" y="247802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5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1748790" y="3200400"/>
            <a:ext cx="13030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1748790" y="3456432"/>
            <a:ext cx="13030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Transfer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390900" y="214884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012692" y="2039112"/>
            <a:ext cx="274320" cy="27432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012692" y="20391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2068" y="2286000"/>
            <a:ext cx="502920" cy="50292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4378452" y="2606040"/>
            <a:ext cx="396240" cy="0"/>
          </a:xfrm>
          <a:prstGeom prst="line">
            <a:avLst/>
          </a:prstGeom>
          <a:noFill/>
          <a:ln w="19050">
            <a:solidFill>
              <a:srgbClr val="C5CBD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637532" y="247802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5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3196590" y="3200400"/>
            <a:ext cx="13030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3196590" y="3456432"/>
            <a:ext cx="13030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4838700" y="214884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460492" y="2039112"/>
            <a:ext cx="274320" cy="27432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5460492" y="20391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9868" y="2286000"/>
            <a:ext cx="502920" cy="502920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5826252" y="2606040"/>
            <a:ext cx="396240" cy="0"/>
          </a:xfrm>
          <a:prstGeom prst="line">
            <a:avLst/>
          </a:prstGeom>
          <a:noFill/>
          <a:ln w="19050">
            <a:solidFill>
              <a:srgbClr val="C5CBDA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085332" y="247802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5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7" name="Text 31"/>
          <p:cNvSpPr/>
          <p:nvPr/>
        </p:nvSpPr>
        <p:spPr>
          <a:xfrm>
            <a:off x="4644390" y="3200400"/>
            <a:ext cx="13030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Pipeline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4644390" y="3456432"/>
            <a:ext cx="13030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&amp; Cleaning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6286500" y="214884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6908292" y="2039112"/>
            <a:ext cx="274320" cy="27432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6908292" y="20391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7668" y="2286000"/>
            <a:ext cx="502920" cy="502920"/>
          </a:xfrm>
          <a:prstGeom prst="rect">
            <a:avLst/>
          </a:prstGeom>
        </p:spPr>
      </p:pic>
      <p:sp>
        <p:nvSpPr>
          <p:cNvPr id="43" name="Shape 36"/>
          <p:cNvSpPr/>
          <p:nvPr/>
        </p:nvSpPr>
        <p:spPr>
          <a:xfrm>
            <a:off x="7274052" y="2606040"/>
            <a:ext cx="396240" cy="0"/>
          </a:xfrm>
          <a:prstGeom prst="line">
            <a:avLst/>
          </a:prstGeom>
          <a:noFill/>
          <a:ln w="19050">
            <a:solidFill>
              <a:srgbClr val="C5CBDA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7533132" y="247802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5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45" name="Text 38"/>
          <p:cNvSpPr/>
          <p:nvPr/>
        </p:nvSpPr>
        <p:spPr>
          <a:xfrm>
            <a:off x="6092190" y="3200400"/>
            <a:ext cx="13030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Analysis</a:t>
            </a:r>
            <a:endParaRPr lang="en-US" sz="1100" dirty="0"/>
          </a:p>
        </p:txBody>
      </p:sp>
      <p:sp>
        <p:nvSpPr>
          <p:cNvPr id="46" name="Text 39"/>
          <p:cNvSpPr/>
          <p:nvPr/>
        </p:nvSpPr>
        <p:spPr>
          <a:xfrm>
            <a:off x="6092190" y="3456432"/>
            <a:ext cx="13030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950" dirty="0"/>
          </a:p>
        </p:txBody>
      </p:sp>
      <p:sp>
        <p:nvSpPr>
          <p:cNvPr id="47" name="Shape 40"/>
          <p:cNvSpPr/>
          <p:nvPr/>
        </p:nvSpPr>
        <p:spPr>
          <a:xfrm>
            <a:off x="7734300" y="214884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8356092" y="2039112"/>
            <a:ext cx="274320" cy="27432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8356092" y="20391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5468" y="2286000"/>
            <a:ext cx="502920" cy="502920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7539990" y="3200400"/>
            <a:ext cx="13030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100" dirty="0"/>
          </a:p>
        </p:txBody>
      </p:sp>
      <p:sp>
        <p:nvSpPr>
          <p:cNvPr id="52" name="Text 44"/>
          <p:cNvSpPr/>
          <p:nvPr/>
        </p:nvSpPr>
        <p:spPr>
          <a:xfrm>
            <a:off x="7539990" y="3456432"/>
            <a:ext cx="13030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Report</a:t>
            </a:r>
            <a:endParaRPr lang="en-US" sz="950" dirty="0"/>
          </a:p>
        </p:txBody>
      </p:sp>
      <p:sp>
        <p:nvSpPr>
          <p:cNvPr id="53" name="Shape 4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640080"/>
            <a:ext cx="914400" cy="64008"/>
          </a:xfrm>
          <a:prstGeom prst="rect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C2D3F7"/>
          </a:solidFill>
          <a:ln w="12700">
            <a:solidFill>
              <a:srgbClr val="C2D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0120"/>
            <a:ext cx="27432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548640" cy="548640"/>
          </a:xfrm>
          <a:prstGeom prst="ellipse">
            <a:avLst/>
          </a:prstGeom>
          <a:solidFill>
            <a:srgbClr val="E8FDF8"/>
          </a:solidFill>
          <a:ln w="12700">
            <a:solidFill>
              <a:srgbClr val="E8FDF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17043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143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1764792"/>
            <a:ext cx="804672" cy="256032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1764792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261872" y="1764792"/>
            <a:ext cx="1348740" cy="256032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61872" y="1764792"/>
            <a:ext cx="13487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154680" y="960120"/>
            <a:ext cx="27432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91840" y="1097280"/>
            <a:ext cx="548640" cy="548640"/>
          </a:xfrm>
          <a:prstGeom prst="ellipse">
            <a:avLst/>
          </a:prstGeom>
          <a:solidFill>
            <a:srgbClr val="E8FDF8"/>
          </a:solidFill>
          <a:ln w="12700">
            <a:solidFill>
              <a:srgbClr val="E8FDF8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170432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931920" y="1143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3291840" y="1764792"/>
            <a:ext cx="726948" cy="256032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91840" y="1764792"/>
            <a:ext cx="7269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110228" y="1764792"/>
            <a:ext cx="726948" cy="256032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110228" y="1764792"/>
            <a:ext cx="7269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291840" y="2112264"/>
            <a:ext cx="1037844" cy="256032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291840" y="2112264"/>
            <a:ext cx="10378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080760" y="960120"/>
            <a:ext cx="27432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217920" y="1097280"/>
            <a:ext cx="548640" cy="548640"/>
          </a:xfrm>
          <a:prstGeom prst="ellipse">
            <a:avLst/>
          </a:prstGeom>
          <a:solidFill>
            <a:srgbClr val="F3EFFE"/>
          </a:solidFill>
          <a:ln w="12700">
            <a:solidFill>
              <a:srgbClr val="F3EFFE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1170432"/>
            <a:ext cx="329184" cy="32918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858000" y="1143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217920" y="1764792"/>
            <a:ext cx="1193292" cy="256032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217920" y="1764792"/>
            <a:ext cx="11932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7502652" y="1764792"/>
            <a:ext cx="804672" cy="256032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502652" y="1764792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6217920" y="2112264"/>
            <a:ext cx="882396" cy="256032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217920" y="2112264"/>
            <a:ext cx="8823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228600" y="2880360"/>
            <a:ext cx="27432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365760" y="3017520"/>
            <a:ext cx="548640" cy="54864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3090672"/>
            <a:ext cx="329184" cy="32918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100584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300" dirty="0"/>
          </a:p>
        </p:txBody>
      </p:sp>
      <p:sp>
        <p:nvSpPr>
          <p:cNvPr id="38" name="Shape 32"/>
          <p:cNvSpPr/>
          <p:nvPr/>
        </p:nvSpPr>
        <p:spPr>
          <a:xfrm>
            <a:off x="365760" y="3685032"/>
            <a:ext cx="1815084" cy="256032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365760" y="3685032"/>
            <a:ext cx="18150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365760" y="4032504"/>
            <a:ext cx="1581912" cy="256032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365760" y="403250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(all-MiniLM-L6-v2)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365760" y="4379976"/>
            <a:ext cx="1037844" cy="256032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365760" y="4379976"/>
            <a:ext cx="10378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3154680" y="2880360"/>
            <a:ext cx="27432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39"/>
          <p:cNvSpPr/>
          <p:nvPr/>
        </p:nvSpPr>
        <p:spPr>
          <a:xfrm>
            <a:off x="3291840" y="3017520"/>
            <a:ext cx="548640" cy="548640"/>
          </a:xfrm>
          <a:prstGeom prst="ellipse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1568" y="3090672"/>
            <a:ext cx="329184" cy="329184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393192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300" dirty="0"/>
          </a:p>
        </p:txBody>
      </p:sp>
      <p:sp>
        <p:nvSpPr>
          <p:cNvPr id="48" name="Shape 41"/>
          <p:cNvSpPr/>
          <p:nvPr/>
        </p:nvSpPr>
        <p:spPr>
          <a:xfrm>
            <a:off x="3291840" y="3685032"/>
            <a:ext cx="804672" cy="256032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291840" y="3685032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900" dirty="0"/>
          </a:p>
        </p:txBody>
      </p:sp>
      <p:sp>
        <p:nvSpPr>
          <p:cNvPr id="50" name="Shape 43"/>
          <p:cNvSpPr/>
          <p:nvPr/>
        </p:nvSpPr>
        <p:spPr>
          <a:xfrm>
            <a:off x="4187952" y="3685032"/>
            <a:ext cx="1504188" cy="256032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4187952" y="3685032"/>
            <a:ext cx="1504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Persistence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6080760" y="2880360"/>
            <a:ext cx="27432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Shape 46"/>
          <p:cNvSpPr/>
          <p:nvPr/>
        </p:nvSpPr>
        <p:spPr>
          <a:xfrm>
            <a:off x="6217920" y="3017520"/>
            <a:ext cx="548640" cy="548640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pic>
        <p:nvPicPr>
          <p:cNvPr id="5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7648" y="3090672"/>
            <a:ext cx="329184" cy="329184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685800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Parsing</a:t>
            </a:r>
            <a:endParaRPr lang="en-US" sz="1300" dirty="0"/>
          </a:p>
        </p:txBody>
      </p:sp>
      <p:sp>
        <p:nvSpPr>
          <p:cNvPr id="56" name="Shape 48"/>
          <p:cNvSpPr/>
          <p:nvPr/>
        </p:nvSpPr>
        <p:spPr>
          <a:xfrm>
            <a:off x="6217920" y="3685032"/>
            <a:ext cx="1348740" cy="256032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49"/>
          <p:cNvSpPr/>
          <p:nvPr/>
        </p:nvSpPr>
        <p:spPr>
          <a:xfrm>
            <a:off x="6217920" y="3685032"/>
            <a:ext cx="13487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</a:t>
            </a:r>
            <a:endParaRPr lang="en-US" sz="900" dirty="0"/>
          </a:p>
        </p:txBody>
      </p:sp>
      <p:sp>
        <p:nvSpPr>
          <p:cNvPr id="58" name="Shape 50"/>
          <p:cNvSpPr/>
          <p:nvPr/>
        </p:nvSpPr>
        <p:spPr>
          <a:xfrm>
            <a:off x="7658100" y="3685032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1"/>
          <p:cNvSpPr/>
          <p:nvPr/>
        </p:nvSpPr>
        <p:spPr>
          <a:xfrm>
            <a:off x="7658100" y="368503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</a:t>
            </a:r>
            <a:endParaRPr lang="en-US" sz="900" dirty="0"/>
          </a:p>
        </p:txBody>
      </p:sp>
      <p:sp>
        <p:nvSpPr>
          <p:cNvPr id="60" name="Shape 52"/>
          <p:cNvSpPr/>
          <p:nvPr/>
        </p:nvSpPr>
        <p:spPr>
          <a:xfrm>
            <a:off x="6217920" y="4032504"/>
            <a:ext cx="726948" cy="256032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3"/>
          <p:cNvSpPr/>
          <p:nvPr/>
        </p:nvSpPr>
        <p:spPr>
          <a:xfrm>
            <a:off x="6217920" y="4032504"/>
            <a:ext cx="7269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</a:t>
            </a:r>
            <a:endParaRPr lang="en-US" sz="900" dirty="0"/>
          </a:p>
        </p:txBody>
      </p:sp>
      <p:sp>
        <p:nvSpPr>
          <p:cNvPr id="62" name="Shape 5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640080"/>
            <a:ext cx="914400" cy="64008"/>
          </a:xfrm>
          <a:prstGeom prst="rect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C2D3F7"/>
          </a:solidFill>
          <a:ln w="12700">
            <a:solidFill>
              <a:srgbClr val="C2D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834640"/>
            <a:ext cx="8229600" cy="0"/>
          </a:xfrm>
          <a:prstGeom prst="line">
            <a:avLst/>
          </a:prstGeom>
          <a:noFill/>
          <a:ln w="25400">
            <a:solidFill>
              <a:srgbClr val="0D9E8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148840"/>
            <a:ext cx="914400" cy="914400"/>
          </a:xfrm>
          <a:prstGeom prst="ellipse">
            <a:avLst/>
          </a:prstGeom>
          <a:solidFill>
            <a:srgbClr val="F0F7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89888" y="2039112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89888" y="20391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359152"/>
            <a:ext cx="512064" cy="5120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3154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3456432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raw text, tables, and metadata from uploaded PDF documents.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057400" y="2148840"/>
            <a:ext cx="914400" cy="914400"/>
          </a:xfrm>
          <a:prstGeom prst="ellipse">
            <a:avLst/>
          </a:prstGeom>
          <a:solidFill>
            <a:srgbClr val="F0F7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61488" y="2039112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61488" y="20391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2359152"/>
            <a:ext cx="512064" cy="5120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920240" y="3154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920240" y="3456432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document content into logical clauses and structural sections.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429000" y="2148840"/>
            <a:ext cx="914400" cy="914400"/>
          </a:xfrm>
          <a:prstGeom prst="ellipse">
            <a:avLst/>
          </a:prstGeom>
          <a:solidFill>
            <a:srgbClr val="F0F7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133088" y="2039112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133088" y="20391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0168" y="2359152"/>
            <a:ext cx="512064" cy="51206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291840" y="3154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3291840" y="3456432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each segment to specific clause types and policy categories.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4800600" y="2148840"/>
            <a:ext cx="914400" cy="914400"/>
          </a:xfrm>
          <a:prstGeom prst="ellipse">
            <a:avLst/>
          </a:prstGeom>
          <a:solidFill>
            <a:srgbClr val="F0F7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504688" y="2039112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504688" y="20391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2359152"/>
            <a:ext cx="512064" cy="51206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663440" y="3154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4663440" y="3456432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key entities, dates, monetary amounts, and involved parties.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6172200" y="2148840"/>
            <a:ext cx="914400" cy="914400"/>
          </a:xfrm>
          <a:prstGeom prst="ellipse">
            <a:avLst/>
          </a:prstGeom>
          <a:solidFill>
            <a:srgbClr val="F0F7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876288" y="2039112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876288" y="20391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3368" y="2359152"/>
            <a:ext cx="512064" cy="51206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035040" y="3154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6035040" y="3456432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clauses against standard playbooks and legal best practices.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7543800" y="2148840"/>
            <a:ext cx="914400" cy="914400"/>
          </a:xfrm>
          <a:prstGeom prst="ellipse">
            <a:avLst/>
          </a:prstGeom>
          <a:solidFill>
            <a:srgbClr val="F0F7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247888" y="2039112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8247888" y="20391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4968" y="2359152"/>
            <a:ext cx="512064" cy="512064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7406640" y="3154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Redline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7406640" y="3456432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proposed edits and markups for high-risk or non-compliant clauses.</a:t>
            </a:r>
            <a:endParaRPr lang="en-US" sz="950" dirty="0"/>
          </a:p>
        </p:txBody>
      </p:sp>
      <p:sp>
        <p:nvSpPr>
          <p:cNvPr id="43" name="Shape 3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Heatmap Feature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640080"/>
            <a:ext cx="914400" cy="64008"/>
          </a:xfrm>
          <a:prstGeom prst="rect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C2D3F7"/>
          </a:solidFill>
          <a:ln w="12700">
            <a:solidFill>
              <a:srgbClr val="C2D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 scans the entire document and categorizes every clause by risk level, providing an instant visual health check of the contract.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46304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463040"/>
            <a:ext cx="27432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1664208"/>
            <a:ext cx="731520" cy="73152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801368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28600" y="24688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228600" y="3063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Risks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4360" y="3429000"/>
            <a:ext cx="2011680" cy="274320"/>
          </a:xfrm>
          <a:prstGeom prst="roundRect">
            <a:avLst>
              <a:gd name="adj" fmla="val 33333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3429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Now →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00400" y="146304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0" y="1463040"/>
            <a:ext cx="27432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60520" y="1664208"/>
            <a:ext cx="731520" cy="73152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801368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200400" y="24688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800" dirty="0"/>
          </a:p>
        </p:txBody>
      </p:sp>
      <p:sp>
        <p:nvSpPr>
          <p:cNvPr id="20" name="Text 16"/>
          <p:cNvSpPr/>
          <p:nvPr/>
        </p:nvSpPr>
        <p:spPr>
          <a:xfrm>
            <a:off x="3200400" y="3063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Issues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566160" y="3429000"/>
            <a:ext cx="2011680" cy="274320"/>
          </a:xfrm>
          <a:prstGeom prst="roundRect">
            <a:avLst>
              <a:gd name="adj" fmla="val 3333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566160" y="3429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Details →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172200" y="146304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172200" y="1463040"/>
            <a:ext cx="274320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132320" y="1664208"/>
            <a:ext cx="731520" cy="73152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801368"/>
            <a:ext cx="457200" cy="4572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172200" y="24688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4800" dirty="0"/>
          </a:p>
        </p:txBody>
      </p:sp>
      <p:sp>
        <p:nvSpPr>
          <p:cNvPr id="28" name="Text 23"/>
          <p:cNvSpPr/>
          <p:nvPr/>
        </p:nvSpPr>
        <p:spPr>
          <a:xfrm>
            <a:off x="6172200" y="3063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Clauses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6537960" y="3429000"/>
            <a:ext cx="2011680" cy="274320"/>
          </a:xfrm>
          <a:prstGeom prst="roundRect">
            <a:avLst>
              <a:gd name="adj" fmla="val 3333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537960" y="3429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→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228600" y="3858768"/>
            <a:ext cx="8686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320040" y="39136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Clause Map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5943600" y="3931920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089904" y="39044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6949440" y="3931920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7095744" y="39044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7955280" y="3931920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8101584" y="39044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228600" y="4224528"/>
            <a:ext cx="1211252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1476428" y="4224528"/>
            <a:ext cx="539344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2052348" y="4224528"/>
            <a:ext cx="347371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2436295" y="4224528"/>
            <a:ext cx="827305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3300176" y="4224528"/>
            <a:ext cx="1115265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4452017" y="4224528"/>
            <a:ext cx="491351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4979944" y="4224528"/>
            <a:ext cx="635331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5651851" y="4224528"/>
            <a:ext cx="395364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6083791" y="4224528"/>
            <a:ext cx="731318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6851685" y="4224528"/>
            <a:ext cx="1211252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8099513" y="4224528"/>
            <a:ext cx="347371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8483460" y="4224528"/>
            <a:ext cx="395364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Assistant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640080"/>
            <a:ext cx="914400" cy="64008"/>
          </a:xfrm>
          <a:prstGeom prst="rect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C2D3F7"/>
          </a:solidFill>
          <a:ln w="12700">
            <a:solidFill>
              <a:srgbClr val="C2D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9748" y="893826"/>
            <a:ext cx="24688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922401"/>
            <a:ext cx="27432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2648" y="990981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Document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552" y="1303020"/>
            <a:ext cx="182880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2648" y="1311021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MSA_Service_Agreement_v2.pdf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468" y="1534287"/>
            <a:ext cx="173736" cy="17373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2648" y="1533906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Uploaded: 2 mins ago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384048" y="1737360"/>
            <a:ext cx="1371600" cy="219456"/>
          </a:xfrm>
          <a:prstGeom prst="roundRect">
            <a:avLst>
              <a:gd name="adj" fmla="val 3333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11719" y="174421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Complete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274320" y="2148840"/>
            <a:ext cx="24688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2221992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04088" y="224028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Questions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384048" y="2578608"/>
            <a:ext cx="2240280" cy="393192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75488" y="2606040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termination conditions?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2441448" y="2624328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384048" y="3063240"/>
            <a:ext cx="2240280" cy="393192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75488" y="3090672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liable for data breaches?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2441448" y="310896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384048" y="3547872"/>
            <a:ext cx="2240280" cy="393192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75488" y="3575304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indemnity obligations.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2441448" y="359359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384048" y="4032504"/>
            <a:ext cx="2240280" cy="393192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75488" y="4059936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any auto-renewal clauses?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2441448" y="4078224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2926080" y="914400"/>
            <a:ext cx="5943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035808" y="987552"/>
            <a:ext cx="502920" cy="502920"/>
          </a:xfrm>
          <a:prstGeom prst="ellipse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7248" y="1078992"/>
            <a:ext cx="320040" cy="32004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639312" y="10058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Assistant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3639312" y="125272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3776472" y="121615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&amp; Context Aware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2926080" y="1481328"/>
            <a:ext cx="5943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212080" y="1572768"/>
            <a:ext cx="3474720" cy="457200"/>
          </a:xfrm>
          <a:prstGeom prst="roundRect">
            <a:avLst>
              <a:gd name="adj" fmla="val 24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5257800" y="1600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non-compete clause in this agreement?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3017520" y="2148840"/>
            <a:ext cx="5394960" cy="141732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3035808" y="2176272"/>
            <a:ext cx="365760" cy="365760"/>
          </a:xfrm>
          <a:prstGeom prst="ellipse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90672" y="2221992"/>
            <a:ext cx="256032" cy="256032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3493008" y="2167128"/>
            <a:ext cx="482803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there is a non-compete clause located in </a:t>
            </a: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14.2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states that the Service Provider cannot work with "direct competitors" for a period of 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after the termination of the agreement. This applies to competitors within the same geographic region.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3493008" y="324612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Source: Clause 14.2 (Non-Solicitation &amp; Non-Compete)</a:t>
            </a:r>
            <a:endParaRPr lang="en-US" sz="950" dirty="0"/>
          </a:p>
        </p:txBody>
      </p:sp>
      <p:sp>
        <p:nvSpPr>
          <p:cNvPr id="44" name="Shape 36"/>
          <p:cNvSpPr/>
          <p:nvPr/>
        </p:nvSpPr>
        <p:spPr>
          <a:xfrm>
            <a:off x="4160520" y="3611880"/>
            <a:ext cx="4572000" cy="457200"/>
          </a:xfrm>
          <a:prstGeom prst="roundRect">
            <a:avLst>
              <a:gd name="adj" fmla="val 24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4206240" y="363931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we want to terminate early?</a:t>
            </a:r>
            <a:endParaRPr lang="en-US" sz="1050" dirty="0"/>
          </a:p>
        </p:txBody>
      </p:sp>
      <p:sp>
        <p:nvSpPr>
          <p:cNvPr id="46" name="Shape 38"/>
          <p:cNvSpPr/>
          <p:nvPr/>
        </p:nvSpPr>
        <p:spPr>
          <a:xfrm>
            <a:off x="3017520" y="4297680"/>
            <a:ext cx="5120640" cy="320040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3246120" y="43159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about this document...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8275320" y="4279392"/>
            <a:ext cx="365760" cy="365760"/>
          </a:xfrm>
          <a:prstGeom prst="ellipse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8472" y="4352544"/>
            <a:ext cx="219456" cy="219456"/>
          </a:xfrm>
          <a:prstGeom prst="rect">
            <a:avLst/>
          </a:prstGeom>
        </p:spPr>
      </p:pic>
      <p:sp>
        <p:nvSpPr>
          <p:cNvPr id="50" name="Shape 4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2D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971800" y="164592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" y="731520"/>
            <a:ext cx="365760" cy="365760"/>
          </a:xfrm>
          <a:prstGeom prst="ellipse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" y="731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88720" y="1097280"/>
            <a:ext cx="731520" cy="73152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23444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Contract PDF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" y="22128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drags and drops the legal document into the secure upload zone.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0" y="164592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200400" y="9144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063240" y="731520"/>
            <a:ext cx="365760" cy="365760"/>
          </a:xfrm>
          <a:prstGeom prst="ellipse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63240" y="731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160520" y="1097280"/>
            <a:ext cx="731520" cy="73152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23444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9184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Auto-Parse &amp; Extract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291840" y="22128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OCRs text, identifies structure, and segments clauses automatically.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172200" y="9144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35040" y="731520"/>
            <a:ext cx="365760" cy="365760"/>
          </a:xfrm>
          <a:prstGeom prst="ellipse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035040" y="731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7132320" y="1097280"/>
            <a:ext cx="731520" cy="73152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23444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6364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Risk Heatmap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263640" y="22128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dashboard appears showing high, medium, and low risk areas.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2971800" y="361188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228600" y="288036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1440" y="2697480"/>
            <a:ext cx="365760" cy="365760"/>
          </a:xfrm>
          <a:prstGeom prst="ellipse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9144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1188720" y="3063240"/>
            <a:ext cx="731520" cy="73152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5880" y="3200400"/>
            <a:ext cx="457200" cy="4572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320040" y="3886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Clause Details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320040" y="41788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a heatmap item opens the detailed analysis panel.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5943600" y="361188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Shape 30"/>
          <p:cNvSpPr/>
          <p:nvPr/>
        </p:nvSpPr>
        <p:spPr>
          <a:xfrm>
            <a:off x="3200400" y="288036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3063240" y="2697480"/>
            <a:ext cx="365760" cy="365760"/>
          </a:xfrm>
          <a:prstGeom prst="ellipse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306324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Shape 33"/>
          <p:cNvSpPr/>
          <p:nvPr/>
        </p:nvSpPr>
        <p:spPr>
          <a:xfrm>
            <a:off x="4160520" y="3063240"/>
            <a:ext cx="731520" cy="73152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0" y="3200400"/>
            <a:ext cx="457200" cy="45720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3291840" y="3886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 Assistant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3291840" y="41788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queries specific concerns like "What are the liabilities?"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6172200" y="288036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37"/>
          <p:cNvSpPr/>
          <p:nvPr/>
        </p:nvSpPr>
        <p:spPr>
          <a:xfrm>
            <a:off x="6035040" y="2697480"/>
            <a:ext cx="365760" cy="365760"/>
          </a:xfrm>
          <a:prstGeom prst="ellipse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603504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6" name="Shape 39"/>
          <p:cNvSpPr/>
          <p:nvPr/>
        </p:nvSpPr>
        <p:spPr>
          <a:xfrm>
            <a:off x="7132320" y="3063240"/>
            <a:ext cx="731520" cy="73152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9480" y="3200400"/>
            <a:ext cx="457200" cy="45720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6263640" y="3886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Contextual Suggestions</a:t>
            </a:r>
            <a:endParaRPr lang="en-US" sz="1200" dirty="0"/>
          </a:p>
        </p:txBody>
      </p:sp>
      <p:sp>
        <p:nvSpPr>
          <p:cNvPr id="49" name="Text 41"/>
          <p:cNvSpPr/>
          <p:nvPr/>
        </p:nvSpPr>
        <p:spPr>
          <a:xfrm>
            <a:off x="6263640" y="41788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provides answers with citations and suggested text fixes.</a:t>
            </a:r>
            <a:endParaRPr lang="en-US" sz="1000" dirty="0"/>
          </a:p>
        </p:txBody>
      </p:sp>
      <p:sp>
        <p:nvSpPr>
          <p:cNvPr id="50" name="Shape 4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Impact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640080"/>
            <a:ext cx="914400" cy="64008"/>
          </a:xfrm>
          <a:prstGeom prst="rect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C2D3F7"/>
          </a:solidFill>
          <a:ln w="12700">
            <a:solidFill>
              <a:srgbClr val="C2D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012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274320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1188720"/>
            <a:ext cx="777240" cy="7772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134416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2103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Money &amp; Time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65760" y="24688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Drastically reduces legal spend by automating routine contract reviews, allowing counsel to focus on high-value tasks.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28600" y="35204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22860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COSTS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0" y="96012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960120"/>
            <a:ext cx="27432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60520" y="1188720"/>
            <a:ext cx="777240" cy="7772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1344168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91840" y="2103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337560" y="24688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the deal cycle by providing instant risk analysis and plain-English summaries, moving from draft to signature in minutes.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200400" y="35204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4000" dirty="0"/>
          </a:p>
        </p:txBody>
      </p:sp>
      <p:sp>
        <p:nvSpPr>
          <p:cNvPr id="21" name="Text 17"/>
          <p:cNvSpPr/>
          <p:nvPr/>
        </p:nvSpPr>
        <p:spPr>
          <a:xfrm>
            <a:off x="320040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REVIEW CYCLE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172200" y="96012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72200" y="960120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132320" y="1188720"/>
            <a:ext cx="777240" cy="77724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768" y="1344168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263640" y="2103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Operations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6309360" y="24688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Effortlessly handles high volumes of various document types (NDAs, MSAs, Employment) without adding headcount.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172200" y="35204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4000" dirty="0"/>
          </a:p>
        </p:txBody>
      </p:sp>
      <p:sp>
        <p:nvSpPr>
          <p:cNvPr id="29" name="Text 24"/>
          <p:cNvSpPr/>
          <p:nvPr/>
        </p:nvSpPr>
        <p:spPr>
          <a:xfrm>
            <a:off x="617220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SCALABILITY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2D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83080" y="1078992"/>
            <a:ext cx="411480" cy="201168"/>
          </a:xfrm>
          <a:prstGeom prst="roundRect">
            <a:avLst>
              <a:gd name="adj" fmla="val 2727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83080" y="107899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7160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029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Redline Comparison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" y="2331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diffing between contract versions to highlight changes and deletions instantly.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051560" y="3401568"/>
            <a:ext cx="164592" cy="164592"/>
          </a:xfrm>
          <a:prstGeom prst="ellipse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33856" y="3242602"/>
            <a:ext cx="0" cy="274320"/>
          </a:xfrm>
          <a:prstGeom prst="line">
            <a:avLst/>
          </a:prstGeom>
          <a:noFill/>
          <a:ln w="19050">
            <a:solidFill>
              <a:srgbClr val="0D9E8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41448" y="141732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995928" y="1490472"/>
            <a:ext cx="411480" cy="201168"/>
          </a:xfrm>
          <a:prstGeom prst="roundRect">
            <a:avLst>
              <a:gd name="adj" fmla="val 2727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95928" y="149047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v2.1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715768" y="164592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1216" y="1783080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532888" y="2441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532888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downloadable PDF summaries of risk assessments for sharing with stakeholders.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264408" y="1165508"/>
            <a:ext cx="164592" cy="164592"/>
          </a:xfrm>
          <a:prstGeom prst="ellipse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346704" y="1325880"/>
            <a:ext cx="0" cy="0"/>
          </a:xfrm>
          <a:prstGeom prst="line">
            <a:avLst/>
          </a:prstGeom>
          <a:noFill/>
          <a:ln w="19050">
            <a:solidFill>
              <a:srgbClr val="0D9E8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654296" y="100584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208776" y="1078992"/>
            <a:ext cx="411480" cy="201168"/>
          </a:xfrm>
          <a:prstGeom prst="roundRect">
            <a:avLst>
              <a:gd name="adj" fmla="val 2727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08776" y="107899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v2.2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4928616" y="123444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064" y="1371600"/>
            <a:ext cx="384048" cy="38404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745736" y="2029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Multi-Doc Chat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745736" y="2331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across multiple uploaded contracts simultaneously to find contradictions or patterns.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5477256" y="3401568"/>
            <a:ext cx="164592" cy="164592"/>
          </a:xfrm>
          <a:prstGeom prst="ellipse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559552" y="3236974"/>
            <a:ext cx="0" cy="274320"/>
          </a:xfrm>
          <a:prstGeom prst="line">
            <a:avLst/>
          </a:prstGeom>
          <a:noFill/>
          <a:ln w="19050">
            <a:solidFill>
              <a:srgbClr val="0D9E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6"/>
          <p:cNvSpPr/>
          <p:nvPr/>
        </p:nvSpPr>
        <p:spPr>
          <a:xfrm>
            <a:off x="6867144" y="141732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8421624" y="1490472"/>
            <a:ext cx="411480" cy="201168"/>
          </a:xfrm>
          <a:prstGeom prst="roundRect">
            <a:avLst>
              <a:gd name="adj" fmla="val 2727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8421624" y="149047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7141464" y="164592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6912" y="1783080"/>
            <a:ext cx="384048" cy="38404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958584" y="2441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6958584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authentication, personalized history, and team collaboration features.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7683774" y="1165508"/>
            <a:ext cx="164592" cy="164592"/>
          </a:xfrm>
          <a:prstGeom prst="ellipse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7772400" y="1325880"/>
            <a:ext cx="0" cy="0"/>
          </a:xfrm>
          <a:prstGeom prst="line">
            <a:avLst/>
          </a:prstGeom>
          <a:noFill/>
          <a:ln w="19050">
            <a:solidFill>
              <a:srgbClr val="0D9E8E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  <p:sp>
        <p:nvSpPr>
          <p:cNvPr id="41" name="Shape 9">
            <a:extLst>
              <a:ext uri="{FF2B5EF4-FFF2-40B4-BE49-F238E27FC236}">
                <a16:creationId xmlns:a16="http://schemas.microsoft.com/office/drawing/2014/main" id="{C7F3C727-9E68-30F6-49AD-6826AAB7CCE2}"/>
              </a:ext>
            </a:extLst>
          </p:cNvPr>
          <p:cNvSpPr/>
          <p:nvPr/>
        </p:nvSpPr>
        <p:spPr>
          <a:xfrm>
            <a:off x="3346704" y="1234440"/>
            <a:ext cx="0" cy="274320"/>
          </a:xfrm>
          <a:prstGeom prst="line">
            <a:avLst/>
          </a:prstGeom>
          <a:noFill/>
          <a:ln w="19050">
            <a:solidFill>
              <a:srgbClr val="0D9E8E"/>
            </a:solidFill>
            <a:prstDash val="solid"/>
          </a:ln>
        </p:spPr>
      </p:sp>
      <p:sp>
        <p:nvSpPr>
          <p:cNvPr id="42" name="Shape 9">
            <a:extLst>
              <a:ext uri="{FF2B5EF4-FFF2-40B4-BE49-F238E27FC236}">
                <a16:creationId xmlns:a16="http://schemas.microsoft.com/office/drawing/2014/main" id="{668B2CDA-B5DD-9DCC-A444-ECCD2BD3BA34}"/>
              </a:ext>
            </a:extLst>
          </p:cNvPr>
          <p:cNvSpPr/>
          <p:nvPr/>
        </p:nvSpPr>
        <p:spPr>
          <a:xfrm>
            <a:off x="7772400" y="1192940"/>
            <a:ext cx="0" cy="274320"/>
          </a:xfrm>
          <a:prstGeom prst="line">
            <a:avLst/>
          </a:prstGeom>
          <a:noFill/>
          <a:ln w="19050">
            <a:solidFill>
              <a:srgbClr val="0D9E8E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E2EAF5">
              <a:alpha val="70000"/>
            </a:srgbClr>
          </a:solidFill>
          <a:ln w="12700">
            <a:solidFill>
              <a:srgbClr val="E2EA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840480"/>
            <a:ext cx="2011680" cy="2011680"/>
          </a:xfrm>
          <a:prstGeom prst="ellipse">
            <a:avLst/>
          </a:prstGeom>
          <a:solidFill>
            <a:srgbClr val="D5E3F0">
              <a:alpha val="70000"/>
            </a:srgbClr>
          </a:solidFill>
          <a:ln w="12700">
            <a:solidFill>
              <a:srgbClr val="D5E3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05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sign blind.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D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first.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371600" y="2514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your future with AI-powered contract intelligence.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0" y="3108960"/>
            <a:ext cx="3657600" cy="685800"/>
          </a:xfrm>
          <a:prstGeom prst="roundRect">
            <a:avLst>
              <a:gd name="adj" fmla="val 40000"/>
            </a:avLst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31089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4914900"/>
            <a:ext cx="3657600" cy="228600"/>
          </a:xfrm>
          <a:prstGeom prst="rect">
            <a:avLst/>
          </a:prstGeom>
          <a:solidFill>
            <a:srgbClr val="0D9E8E"/>
          </a:solidFill>
          <a:ln w="12700">
            <a:solidFill>
              <a:srgbClr val="0D9E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4914900"/>
            <a:ext cx="5486400" cy="228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859</Words>
  <Application>Microsoft Office PowerPoint</Application>
  <PresentationFormat>On-screen Show (16:9)</PresentationFormat>
  <Paragraphs>217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Legal Document Analyzer &amp; Contract Review Agent</dc:title>
  <dc:subject>PptxGenJS Presentation</dc:subject>
  <dc:creator>PptxGenJS</dc:creator>
  <cp:lastModifiedBy>Akshit Sharma</cp:lastModifiedBy>
  <cp:revision>2</cp:revision>
  <dcterms:created xsi:type="dcterms:W3CDTF">2026-04-02T10:33:14Z</dcterms:created>
  <dcterms:modified xsi:type="dcterms:W3CDTF">2026-04-02T10:54:33Z</dcterms:modified>
</cp:coreProperties>
</file>